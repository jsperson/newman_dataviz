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SpaceX Launch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5DAA"/>
                </a:solidFill>
              </a:defRPr>
            </a:pPr>
            <a:r>
              <a:t>Power BI Dashboard Design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Dashboard Architecture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• Executive Summary Dashboard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• ROI &amp; Opportunity Analysis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• Success Metrics &amp; Achievements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2929"/>
                </a:solidFill>
              </a:defRPr>
            </a:pPr>
            <a:r>
              <a:t>SpaceX Brand Colors for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14400" cy="457200"/>
          </a:xfrm>
          <a:prstGeom prst="rect">
            <a:avLst/>
          </a:prstGeom>
          <a:solidFill>
            <a:srgbClr val="005DAA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188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Primary Blue</a:t>
            </a:r>
          </a:p>
          <a:p>
            <a:r>
              <a:t>#005DAA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Main brand color, headers, KPI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914400" cy="457200"/>
          </a:xfrm>
          <a:prstGeom prst="rect">
            <a:avLst/>
          </a:prstGeom>
          <a:solidFill>
            <a:srgbClr val="292929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Dark Gray</a:t>
            </a:r>
          </a:p>
          <a:p>
            <a:r>
              <a:t>#292929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Backgrounds, text, professional tone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914400" cy="457200"/>
          </a:xfrm>
          <a:prstGeom prst="rect">
            <a:avLst/>
          </a:prstGeom>
          <a:solidFill>
            <a:srgbClr val="22C55E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68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Success Green</a:t>
            </a:r>
          </a:p>
          <a:p>
            <a:r>
              <a:t>#22C55E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Positive metrics, successful launches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914400" cy="457200"/>
          </a:xfrm>
          <a:prstGeom prst="rect">
            <a:avLst/>
          </a:prstGeom>
          <a:solidFill>
            <a:srgbClr val="FB923C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Warning Orange</a:t>
            </a:r>
          </a:p>
          <a:p>
            <a:r>
              <a:t>#FB923C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Attention points, delays, warnings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914400" cy="457200"/>
          </a:xfrm>
          <a:prstGeom prst="rect">
            <a:avLst/>
          </a:prstGeom>
          <a:solidFill>
            <a:srgbClr val="EF4444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49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Danger Red</a:t>
            </a:r>
          </a:p>
          <a:p>
            <a:r>
              <a:t>#EF4444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Failures, critical issues,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914400" cy="457200"/>
          </a:xfrm>
          <a:prstGeom prst="rect">
            <a:avLst/>
          </a:prstGeom>
          <a:solidFill>
            <a:srgbClr val="8B5CF6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Innovation Purple</a:t>
            </a:r>
          </a:p>
          <a:p>
            <a:r>
              <a:t>#8B5CF6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389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R&amp;D metrics, Starship program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914400" cy="457200"/>
          </a:xfrm>
          <a:prstGeom prst="rect">
            <a:avLst/>
          </a:prstGeom>
          <a:solidFill>
            <a:srgbClr val="475569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029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Steel Blue</a:t>
            </a:r>
          </a:p>
          <a:p>
            <a:r>
              <a:t>#475569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029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Secondary text, borders, dividers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914400" cy="457200"/>
          </a:xfrm>
          <a:prstGeom prst="rect">
            <a:avLst/>
          </a:prstGeom>
          <a:solidFill>
            <a:srgbClr val="7DD3FC"/>
          </a:solidFill>
          <a:ln>
            <a:solidFill>
              <a:srgbClr val="292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669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2929"/>
                </a:solidFill>
              </a:defRPr>
            </a:pPr>
            <a:r>
              <a:t>Sky Blue</a:t>
            </a:r>
          </a:p>
          <a:p>
            <a:r>
              <a:t>#7DD3FC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Accent color, hover states, selections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solidFill>
            <a:srgbClr val="005DAA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rgbClr val="292929"/>
                </a:solidFill>
              </a:rPr>
              <a:t>Page 1: Executive Summary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Total Launches</a:t>
            </a:r>
          </a:p>
          <a:p>
            <a:pPr>
              <a:defRPr sz="2400" b="1">
                <a:solidFill>
                  <a:srgbClr val="005DAA"/>
                </a:solidFill>
              </a:defRPr>
            </a:pPr>
            <a:r>
              <a:t>578</a:t>
            </a:r>
          </a:p>
          <a:p>
            <a:pPr>
              <a:defRPr sz="900">
                <a:solidFill>
                  <a:srgbClr val="22C55E"/>
                </a:solidFill>
              </a:defRPr>
            </a:pPr>
            <a:r>
              <a:t>+134 YoY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09728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Success Rate</a:t>
            </a:r>
          </a:p>
          <a:p>
            <a:pPr>
              <a:defRPr sz="2400" b="1">
                <a:solidFill>
                  <a:srgbClr val="22C55E"/>
                </a:solidFill>
              </a:defRPr>
            </a:pPr>
            <a:r>
              <a:t>97.8%</a:t>
            </a:r>
          </a:p>
          <a:p>
            <a:pPr>
              <a:defRPr sz="900">
                <a:solidFill>
                  <a:srgbClr val="22C55E"/>
                </a:solidFill>
              </a:defRPr>
            </a:pPr>
            <a:r>
              <a:t>+2.3%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9728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1887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Cost Reduction</a:t>
            </a:r>
          </a:p>
          <a:p>
            <a:pPr>
              <a:defRPr sz="2400" b="1">
                <a:solidFill>
                  <a:srgbClr val="8B5CF6"/>
                </a:solidFill>
              </a:defRPr>
            </a:pPr>
            <a:r>
              <a:t>73%</a:t>
            </a:r>
          </a:p>
          <a:p>
            <a:pPr>
              <a:defRPr sz="900">
                <a:solidFill>
                  <a:srgbClr val="EF4444"/>
                </a:solidFill>
              </a:defRPr>
            </a:pPr>
            <a:r>
              <a:t>-$47M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109728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7999" y="11887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Reusability Rate</a:t>
            </a:r>
          </a:p>
          <a:p>
            <a:pPr>
              <a:defRPr sz="2400" b="1">
                <a:solidFill>
                  <a:srgbClr val="7DD3FC"/>
                </a:solidFill>
              </a:defRPr>
            </a:pPr>
            <a:r>
              <a:t>89%</a:t>
            </a:r>
          </a:p>
          <a:p>
            <a:pPr>
              <a:defRPr sz="900">
                <a:solidFill>
                  <a:srgbClr val="22C55E"/>
                </a:solidFill>
              </a:defRPr>
            </a:pPr>
            <a:r>
              <a:t>+12%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41148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Launch Cadence Trend (2018-2024)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📈 Line chart showing exponential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560320"/>
            <a:ext cx="39319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Mission Success Analytics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🎯 Radial gauge + success breakdown by vehicle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solidFill>
            <a:srgbClr val="2929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Key Insights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2024: Record 134 launches, exceeding all other providers combined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Booster reusability reached 24 flights per vehicle (B1067)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Critical improvement needed: Starship success rate at 33%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solidFill>
            <a:srgbClr val="005DAA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rgbClr val="292929"/>
                </a:solidFill>
              </a:rPr>
              <a:t>Page 2: ROI &amp; Improvement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Reusability ROI Waterfall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💰 Waterfall chart showing cost savings progression: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• Base launch cost: $62M</a:t>
            </a:r>
          </a:p>
          <a:p>
            <a:pPr>
              <a:defRPr sz="1000">
                <a:solidFill>
                  <a:srgbClr val="22C55E"/>
                </a:solidFill>
              </a:defRPr>
            </a:pPr>
            <a:r>
              <a:t>• First stage reuse: -$30M (48% savings)</a:t>
            </a:r>
          </a:p>
          <a:p>
            <a:pPr>
              <a:defRPr sz="1000">
                <a:solidFill>
                  <a:srgbClr val="22C55E"/>
                </a:solidFill>
              </a:defRPr>
            </a:pPr>
            <a:r>
              <a:t>• Fairing recovery: -$6M (10% savings)</a:t>
            </a:r>
          </a:p>
          <a:p>
            <a:pPr>
              <a:defRPr sz="1000">
                <a:solidFill>
                  <a:srgbClr val="22C55E"/>
                </a:solidFill>
              </a:defRPr>
            </a:pPr>
            <a:r>
              <a:t>• Operational efficiency: -$6M (10% savings)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• Current cost: $20M (68% reduction)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27432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18872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Improvement Priority Matrix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🎯 2x2 Matrix (Impact vs Effort)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High Impact/Low Effort:</a:t>
            </a:r>
          </a:p>
          <a:p>
            <a:pPr>
              <a:defRPr sz="900" b="0">
                <a:solidFill>
                  <a:srgbClr val="292929"/>
                </a:solidFill>
              </a:defRPr>
            </a:pPr>
            <a:r>
              <a:t>• Fairing catch improvement</a:t>
            </a:r>
          </a:p>
          <a:p>
            <a:pPr>
              <a:defRPr sz="900" b="1">
                <a:solidFill>
                  <a:srgbClr val="FB923C"/>
                </a:solidFill>
              </a:defRPr>
            </a:pPr>
            <a:r>
              <a:t>High Impact/High Effort:</a:t>
            </a:r>
          </a:p>
          <a:p>
            <a:pPr>
              <a:defRPr sz="900" b="0">
                <a:solidFill>
                  <a:srgbClr val="292929"/>
                </a:solidFill>
              </a:defRPr>
            </a:pPr>
            <a:r>
              <a:t>• Second stage recovery</a:t>
            </a:r>
          </a:p>
          <a:p>
            <a:pPr>
              <a:defRPr sz="900" b="0">
                <a:solidFill>
                  <a:srgbClr val="292929"/>
                </a:solidFill>
              </a:defRPr>
            </a:pPr>
            <a:r>
              <a:t>• Starship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82296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863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Projected Value Creation (2025-2030)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📊 Stacked area chart showing cumulative savings potential</a:t>
            </a:r>
          </a:p>
          <a:p>
            <a:pPr>
              <a:defRPr sz="1000">
                <a:solidFill>
                  <a:srgbClr val="005DAA"/>
                </a:solidFill>
              </a:defRPr>
            </a:pPr>
            <a:r>
              <a:t>• Current trajectory: $2.5B saved through reusability</a:t>
            </a:r>
          </a:p>
          <a:p>
            <a:pPr>
              <a:defRPr sz="1000">
                <a:solidFill>
                  <a:srgbClr val="8B5CF6"/>
                </a:solidFill>
              </a:defRPr>
            </a:pPr>
            <a:r>
              <a:t>• With 2nd stage recovery: Additional $3.8B potential</a:t>
            </a:r>
          </a:p>
          <a:p>
            <a:pPr>
              <a:defRPr sz="1000">
                <a:solidFill>
                  <a:srgbClr val="22C55E"/>
                </a:solidFill>
              </a:defRPr>
            </a:pPr>
            <a:r>
              <a:t>• Starship success scenario: $15B+ market expansion</a:t>
            </a:r>
          </a:p>
          <a:p>
            <a:pPr>
              <a:defRPr sz="1000">
                <a:solidFill>
                  <a:srgbClr val="FB923C"/>
                </a:solidFill>
              </a:defRPr>
            </a:pPr>
            <a:r>
              <a:t>• Risk factor: 40% probability of full Starship capability by 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solidFill>
            <a:srgbClr val="005DAA"/>
          </a:solidFill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rgbClr val="292929"/>
                </a:solidFill>
              </a:rPr>
              <a:t>Page 3: Success Metrics &amp;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Historic Milestones Timeline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📅 Interactive timeline with key achievements</a:t>
            </a:r>
          </a:p>
          <a:p>
            <a:pPr>
              <a:defRPr sz="1000">
                <a:solidFill>
                  <a:srgbClr val="005DAA"/>
                </a:solidFill>
              </a:defRPr>
            </a:pPr>
            <a:r>
              <a:t>2008: First successful Falcon 1 | 2015: First landing | 2017: First reuse | 2020: Crew Dragon | 2024: 134 launches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41148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749039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Landing Success Evolution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📈 Area chart showing improvement</a:t>
            </a:r>
          </a:p>
          <a:p>
            <a:pPr>
              <a:defRPr sz="1000">
                <a:solidFill>
                  <a:srgbClr val="EF4444"/>
                </a:solidFill>
              </a:defRPr>
            </a:pPr>
            <a:r>
              <a:t>• 2015: 0% success rate</a:t>
            </a:r>
          </a:p>
          <a:p>
            <a:pPr>
              <a:defRPr sz="1000">
                <a:solidFill>
                  <a:srgbClr val="FB923C"/>
                </a:solidFill>
              </a:defRPr>
            </a:pPr>
            <a:r>
              <a:t>• 2017: 41% success rate</a:t>
            </a:r>
          </a:p>
          <a:p>
            <a:pPr>
              <a:defRPr sz="1000">
                <a:solidFill>
                  <a:srgbClr val="7DD3FC"/>
                </a:solidFill>
              </a:defRPr>
            </a:pPr>
            <a:r>
              <a:t>• 2020: 85% success rate</a:t>
            </a:r>
          </a:p>
          <a:p>
            <a:pPr>
              <a:defRPr sz="1000">
                <a:solidFill>
                  <a:srgbClr val="22C55E"/>
                </a:solidFill>
              </a:defRPr>
            </a:pPr>
            <a:r>
              <a:t>• 2024: 95%+ success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51760"/>
            <a:ext cx="4023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743200"/>
            <a:ext cx="3657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2929"/>
                </a:solidFill>
              </a:defRPr>
            </a:pPr>
            <a:r>
              <a:t>Reusability Champions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🏆 Bar chart of top performing boosters</a:t>
            </a:r>
          </a:p>
          <a:p>
            <a:pPr>
              <a:defRPr sz="1000">
                <a:solidFill>
                  <a:srgbClr val="005DAA"/>
                </a:solidFill>
              </a:defRPr>
            </a:pPr>
            <a:r>
              <a:t>• B1067: 24 flights (record holder)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• B1061: 23 flights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• B1062: 22 flights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• Fleet average: 12 flights per booster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solidFill>
            <a:srgbClr val="2929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Key Success Metrics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Market Leadership: 60%+ of global launch capacity | Cost Leadership: 75% cheaper than competitors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Innovation Speed: 10x faster iteration than traditional aerospace | Safety: 100% crew mission success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Environmental: 90% reduction in space debris through controlled reentry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2929"/>
                </a:solidFill>
              </a:defRPr>
            </a:pPr>
            <a:r>
              <a:t>Power BI Implementation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DAA"/>
                </a:solidFill>
              </a:defRPr>
            </a:pPr>
            <a:r>
              <a:t>Data Connections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1. Import CSV files: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   • fact_launches.csv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   • dim_launch_location.csv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   • dim_launch_vehicle.csv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2. Create relationships: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   • fact→location (location_id)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   • fact→vehicle (vehicle_id)</a:t>
            </a:r>
          </a:p>
          <a:p>
            <a:pPr>
              <a:defRPr sz="1000">
                <a:solidFill>
                  <a:srgbClr val="292929"/>
                </a:solidFill>
              </a:defRPr>
            </a:pPr>
            <a:r>
              <a:t>3. Set date table from launch_date_actual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DAA"/>
                </a:solidFill>
              </a:defRPr>
            </a:pPr>
            <a:r>
              <a:t>Essential DAX Measures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Success Rate =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DIVIDE(COUNT(launch_success=TRUE),</a:t>
            </a:r>
          </a:p>
          <a:p>
            <a:pPr>
              <a:defRPr sz="900">
                <a:solidFill>
                  <a:srgbClr val="292929"/>
                </a:solidFill>
              </a:defRPr>
            </a:pPr>
            <a:r>
              <a:t>       COUNT(all_launches))</a:t>
            </a:r>
          </a:p>
          <a:p>
            <a:pPr>
              <a:defRPr sz="900">
                <a:solidFill>
                  <a:srgbClr val="292929"/>
                </a:solidFill>
              </a:defRPr>
            </a:pP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ROI Savings =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COUNT(booster_reused=TRUE) * 30</a:t>
            </a:r>
          </a:p>
          <a:p>
            <a:pPr>
              <a:defRPr sz="900">
                <a:solidFill>
                  <a:srgbClr val="292929"/>
                </a:solidFill>
              </a:defRPr>
            </a:pP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Improvement Trend =</a:t>
            </a:r>
          </a:p>
          <a:p>
            <a:pPr>
              <a:defRPr sz="900">
                <a:solidFill>
                  <a:srgbClr val="292929"/>
                </a:solidFill>
              </a:defRPr>
            </a:pPr>
            <a:r>
              <a:t>AVERAGE(improvement_flag)</a:t>
            </a:r>
          </a:p>
          <a:p>
            <a:pPr>
              <a:defRPr sz="900">
                <a:solidFill>
                  <a:srgbClr val="292929"/>
                </a:solidFill>
              </a:defRPr>
            </a:pPr>
            <a:r>
              <a:t>  BY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DAA"/>
                </a:solidFill>
              </a:defRPr>
            </a:pPr>
            <a:r>
              <a:t>Recommended Visualizations</a:t>
            </a:r>
          </a:p>
          <a:p>
            <a:pPr>
              <a:defRPr sz="1000" b="1">
                <a:solidFill>
                  <a:srgbClr val="292929"/>
                </a:solidFill>
              </a:defRPr>
            </a:pPr>
            <a:r>
              <a:t>• KPI Cards: Total launches, Success rate, Cost savings, Reusability %</a:t>
            </a:r>
          </a:p>
          <a:p>
            <a:pPr>
              <a:defRPr sz="1000" b="1">
                <a:solidFill>
                  <a:srgbClr val="292929"/>
                </a:solidFill>
              </a:defRPr>
            </a:pPr>
            <a:r>
              <a:t>• Line Charts: Launch trend over time, Landing success evolution</a:t>
            </a:r>
          </a:p>
          <a:p>
            <a:pPr>
              <a:defRPr sz="1000" b="1">
                <a:solidFill>
                  <a:srgbClr val="292929"/>
                </a:solidFill>
              </a:defRPr>
            </a:pPr>
            <a:r>
              <a:t>• Bar Charts: Launches by vehicle, Booster reuse count, Cost comparison</a:t>
            </a:r>
          </a:p>
          <a:p>
            <a:pPr>
              <a:defRPr sz="1000" b="1">
                <a:solidFill>
                  <a:srgbClr val="292929"/>
                </a:solidFill>
              </a:defRPr>
            </a:pPr>
            <a:r>
              <a:t>• Matrix/Heatmap: Launch calendar, Improvement opportunities by category</a:t>
            </a:r>
          </a:p>
          <a:p>
            <a:pPr>
              <a:defRPr sz="1000" b="1">
                <a:solidFill>
                  <a:srgbClr val="292929"/>
                </a:solidFill>
              </a:defRPr>
            </a:pPr>
            <a:r>
              <a:t>• Gauge Charts: Current success rate, Reusability percentage</a:t>
            </a:r>
          </a:p>
          <a:p>
            <a:pPr>
              <a:defRPr sz="1000" b="1">
                <a:solidFill>
                  <a:srgbClr val="292929"/>
                </a:solidFill>
              </a:defRPr>
            </a:pPr>
            <a:r>
              <a:t>• Waterfall: Cost reduction breakdown, ROI progression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
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SpaceX Launch Analytics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005DAA"/>
                </a:solidFill>
              </a:defRPr>
            </a:pPr>
            <a:r>
              <a:t>Power BI Dashboard Design Specification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3657600"/>
            <a:ext cx="4572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Dashboard Architecture</a:t>
            </a:r>
          </a:p>
          <a:p>
            <a:pPr>
              <a:defRPr sz="1600">
                <a:solidFill>
                  <a:srgbClr val="9CA3AF"/>
                </a:solidFill>
              </a:defRPr>
            </a:pPr>
            <a:r>
              <a:t>• Executive Summary Dashboard</a:t>
            </a:r>
          </a:p>
          <a:p>
            <a:pPr>
              <a:defRPr sz="1600">
                <a:solidFill>
                  <a:srgbClr val="9CA3AF"/>
                </a:solidFill>
              </a:defRPr>
            </a:pPr>
            <a:r>
              <a:t>• ROI &amp; Opportunity Analysis</a:t>
            </a:r>
          </a:p>
          <a:p>
            <a:pPr>
              <a:defRPr sz="1600">
                <a:solidFill>
                  <a:srgbClr val="9CA3AF"/>
                </a:solidFill>
              </a:defRPr>
            </a:pPr>
            <a:r>
              <a:t>• Success Metrics &amp; Achievements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92929"/>
                </a:solidFill>
              </a:defRPr>
            </a:pPr>
            <a:r>
              <a:t>SpaceX Brand Colors for Power BI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914400" cy="457200"/>
          </a:xfrm>
          <a:prstGeom prst="rect">
            <a:avLst/>
          </a:prstGeom>
          <a:solidFill>
            <a:srgbClr val="005DAA"/>
          </a:solidFill>
          <a:ln>
            <a:solidFill>
              <a:srgbClr val="2929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554480" y="118872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92929"/>
                </a:solidFill>
              </a:defRPr>
            </a:pPr>
            <a:r>
              <a:t>Primary Blue</a:t>
            </a:r>
          </a:p>
          <a:p>
            <a:r>
              <a:t>#005DAA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118872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75569"/>
                </a:solidFill>
              </a:defRPr>
            </a:pPr>
            <a:r>
              <a:t>Main brand color, headers, KPI highlights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914400" cy="457200"/>
          </a:xfrm>
          <a:prstGeom prst="rect">
            <a:avLst/>
          </a:prstGeom>
          <a:solidFill>
            <a:srgbClr val="292929"/>
          </a:solidFill>
          <a:ln>
            <a:solidFill>
              <a:srgbClr val="2929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18288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92929"/>
                </a:solidFill>
              </a:defRPr>
            </a:pPr>
            <a:r>
              <a:t>Dark Gray</a:t>
            </a:r>
          </a:p>
          <a:p>
            <a:r>
              <a:t>#292929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182880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75569"/>
                </a:solidFill>
              </a:defRPr>
            </a:pPr>
            <a:r>
              <a:t>Backgrounds, text, professional tone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468880"/>
            <a:ext cx="914400" cy="457200"/>
          </a:xfrm>
          <a:prstGeom prst="rect">
            <a:avLst/>
          </a:prstGeom>
          <a:solidFill>
            <a:srgbClr val="22C55E"/>
          </a:solidFill>
          <a:ln>
            <a:solidFill>
              <a:srgbClr val="2929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54480" y="246888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92929"/>
                </a:solidFill>
              </a:defRPr>
            </a:pPr>
            <a:r>
              <a:t>Success Green</a:t>
            </a:r>
          </a:p>
          <a:p>
            <a:r>
              <a:t>#22C55E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4688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75569"/>
                </a:solidFill>
              </a:defRPr>
            </a:pPr>
            <a:r>
              <a:t>Positive metrics, successful launches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108960"/>
            <a:ext cx="914400" cy="457200"/>
          </a:xfrm>
          <a:prstGeom prst="rect">
            <a:avLst/>
          </a:prstGeom>
          <a:solidFill>
            <a:srgbClr val="FB923C"/>
          </a:solidFill>
          <a:ln>
            <a:solidFill>
              <a:srgbClr val="2929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54480" y="31089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92929"/>
                </a:solidFill>
              </a:defRPr>
            </a:pPr>
            <a:r>
              <a:t>Warning Orange</a:t>
            </a:r>
          </a:p>
          <a:p>
            <a:r>
              <a:t>#FB923C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310896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75569"/>
                </a:solidFill>
              </a:defRPr>
            </a:pPr>
            <a:r>
              <a:t>Attention points, delays, warnings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749040"/>
            <a:ext cx="914400" cy="457200"/>
          </a:xfrm>
          <a:prstGeom prst="rect">
            <a:avLst/>
          </a:prstGeom>
          <a:solidFill>
            <a:srgbClr val="EF4444"/>
          </a:solidFill>
          <a:ln>
            <a:solidFill>
              <a:srgbClr val="2929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54480" y="374904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92929"/>
                </a:solidFill>
              </a:defRPr>
            </a:pPr>
            <a:r>
              <a:t>Danger Red</a:t>
            </a:r>
          </a:p>
          <a:p>
            <a:r>
              <a:t>#EF4444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374904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75569"/>
                </a:solidFill>
              </a:defRPr>
            </a:pPr>
            <a:r>
              <a:t>Failures, critical issues, alerts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389120"/>
            <a:ext cx="914400" cy="457200"/>
          </a:xfrm>
          <a:prstGeom prst="rect">
            <a:avLst/>
          </a:prstGeom>
          <a:solidFill>
            <a:srgbClr val="8B5CF6"/>
          </a:solidFill>
          <a:ln>
            <a:solidFill>
              <a:srgbClr val="2929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554480" y="438912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92929"/>
                </a:solidFill>
              </a:defRPr>
            </a:pPr>
            <a:r>
              <a:t>Innovation Purple</a:t>
            </a:r>
          </a:p>
          <a:p>
            <a:r>
              <a:t>#8B5CF6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438912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75569"/>
                </a:solidFill>
              </a:defRPr>
            </a:pPr>
            <a:r>
              <a:t>R&amp;D metrics, Starship program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029200"/>
            <a:ext cx="914400" cy="457200"/>
          </a:xfrm>
          <a:prstGeom prst="rect">
            <a:avLst/>
          </a:prstGeom>
          <a:solidFill>
            <a:srgbClr val="475569"/>
          </a:solidFill>
          <a:ln>
            <a:solidFill>
              <a:srgbClr val="2929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554480" y="50292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92929"/>
                </a:solidFill>
              </a:defRPr>
            </a:pPr>
            <a:r>
              <a:t>Steel Blue</a:t>
            </a:r>
          </a:p>
          <a:p>
            <a:r>
              <a:t>#475569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502920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75569"/>
                </a:solidFill>
              </a:defRPr>
            </a:pPr>
            <a:r>
              <a:t>Secondary text, borders, dividers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669280"/>
            <a:ext cx="914400" cy="457200"/>
          </a:xfrm>
          <a:prstGeom prst="rect">
            <a:avLst/>
          </a:prstGeom>
          <a:solidFill>
            <a:srgbClr val="7DD3FC"/>
          </a:solidFill>
          <a:ln>
            <a:solidFill>
              <a:srgbClr val="2929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554480" y="566928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92929"/>
                </a:solidFill>
              </a:defRPr>
            </a:pPr>
            <a:r>
              <a:t>Sky Blue</a:t>
            </a:r>
          </a:p>
          <a:p>
            <a:r>
              <a:t>#7DD3FC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0" y="56692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75569"/>
                </a:solidFill>
              </a:defRPr>
            </a:pPr>
            <a:r>
              <a:t>Accent color, hover states, selections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5D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8595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Page 1: Executive Summary Dashboard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1920240" cy="10972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5D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737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</a:defRPr>
            </a:pPr>
            <a:r>
              <a:t>Total Launches</a:t>
            </a:r>
          </a:p>
          <a:p>
            <a:pPr>
              <a:defRPr sz="2400" b="1">
                <a:solidFill>
                  <a:srgbClr val="005DAA"/>
                </a:solidFill>
              </a:defRPr>
            </a:pPr>
            <a:r>
              <a:t>578</a:t>
            </a:r>
          </a:p>
          <a:p>
            <a:pPr>
              <a:defRPr sz="900">
                <a:solidFill>
                  <a:srgbClr val="22C55E"/>
                </a:solidFill>
              </a:defRPr>
            </a:pPr>
            <a:r>
              <a:t>+134 YoY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1097280"/>
            <a:ext cx="1920240" cy="10972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51760" y="1188720"/>
            <a:ext cx="1737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</a:defRPr>
            </a:pPr>
            <a:r>
              <a:t>Success Rate</a:t>
            </a:r>
          </a:p>
          <a:p>
            <a:pPr>
              <a:defRPr sz="2400" b="1">
                <a:solidFill>
                  <a:srgbClr val="22C55E"/>
                </a:solidFill>
              </a:defRPr>
            </a:pPr>
            <a:r>
              <a:t>97.8%</a:t>
            </a:r>
          </a:p>
          <a:p>
            <a:pPr>
              <a:defRPr sz="900">
                <a:solidFill>
                  <a:srgbClr val="22C55E"/>
                </a:solidFill>
              </a:defRPr>
            </a:pPr>
            <a:r>
              <a:t>+2.3%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1097280"/>
            <a:ext cx="1920240" cy="10972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79" y="1188720"/>
            <a:ext cx="1737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</a:defRPr>
            </a:pPr>
            <a:r>
              <a:t>Cost Reduction</a:t>
            </a:r>
          </a:p>
          <a:p>
            <a:pPr>
              <a:defRPr sz="2400" b="1">
                <a:solidFill>
                  <a:srgbClr val="8B5CF6"/>
                </a:solidFill>
              </a:defRPr>
            </a:pPr>
            <a:r>
              <a:t>73%</a:t>
            </a:r>
          </a:p>
          <a:p>
            <a:pPr>
              <a:defRPr sz="900">
                <a:solidFill>
                  <a:srgbClr val="EF4444"/>
                </a:solidFill>
              </a:defRPr>
            </a:pPr>
            <a:r>
              <a:t>-$47M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59" y="1097280"/>
            <a:ext cx="1920240" cy="10972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7999" y="1188720"/>
            <a:ext cx="1737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</a:defRPr>
            </a:pPr>
            <a:r>
              <a:t>Reusability Rate</a:t>
            </a:r>
          </a:p>
          <a:p>
            <a:pPr>
              <a:defRPr sz="2400" b="1">
                <a:solidFill>
                  <a:srgbClr val="7DD3FC"/>
                </a:solidFill>
              </a:defRPr>
            </a:pPr>
            <a:r>
              <a:t>89%</a:t>
            </a:r>
          </a:p>
          <a:p>
            <a:pPr>
              <a:defRPr sz="900">
                <a:solidFill>
                  <a:srgbClr val="22C55E"/>
                </a:solidFill>
              </a:defRPr>
            </a:pPr>
            <a:r>
              <a:t>+12%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560320"/>
            <a:ext cx="4114800" cy="2286000"/>
          </a:xfrm>
          <a:prstGeom prst="rect">
            <a:avLst/>
          </a:prstGeom>
          <a:solidFill>
            <a:srgbClr val="FFFFFF"/>
          </a:solidFill>
          <a:ln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65176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92929"/>
                </a:solidFill>
              </a:defRPr>
            </a:pPr>
            <a:r>
              <a:t>Launch Cadence Trend (2018-2024)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📈 Line chart showing exponential growth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80" y="2560320"/>
            <a:ext cx="3931920" cy="2286000"/>
          </a:xfrm>
          <a:prstGeom prst="rect">
            <a:avLst/>
          </a:prstGeom>
          <a:solidFill>
            <a:srgbClr val="FFFFFF"/>
          </a:solidFill>
          <a:ln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37760" y="265176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92929"/>
                </a:solidFill>
              </a:defRPr>
            </a:pPr>
            <a:r>
              <a:t>Mission Success Analytics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🎯 Radial gauge + success breakdown by vehicle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029200"/>
            <a:ext cx="8229600" cy="1188720"/>
          </a:xfrm>
          <a:prstGeom prst="rect">
            <a:avLst/>
          </a:prstGeom>
          <a:solidFill>
            <a:srgbClr val="29292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5120640"/>
            <a:ext cx="786384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7DD3FC"/>
                </a:solidFill>
              </a:defRPr>
            </a:pPr>
            <a:r>
              <a:t>Key Insights</a:t>
            </a:r>
          </a:p>
          <a:p>
            <a:pPr>
              <a:defRPr sz="1000">
                <a:solidFill>
                  <a:srgbClr val="FFFFFF"/>
                </a:solidFill>
              </a:defRPr>
            </a:pPr>
            <a:r>
              <a:t>• 2024: Record 134 launches, exceeding all other providers combined</a:t>
            </a:r>
          </a:p>
          <a:p>
            <a:pPr>
              <a:defRPr sz="1000">
                <a:solidFill>
                  <a:srgbClr val="FFFFFF"/>
                </a:solidFill>
              </a:defRPr>
            </a:pPr>
            <a:r>
              <a:t>• Booster reusability reached 24 flights per vehicle (B1067)</a:t>
            </a:r>
          </a:p>
          <a:p>
            <a:pPr>
              <a:defRPr sz="1000">
                <a:solidFill>
                  <a:srgbClr val="FFFFFF"/>
                </a:solidFill>
              </a:defRPr>
            </a:pPr>
            <a:r>
              <a:t>• Critical improvement needed: Starship success rate at 33%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8595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Page 2: ROI &amp; Improvement Opportunities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5303520" cy="2560320"/>
          </a:xfrm>
          <a:prstGeom prst="rect">
            <a:avLst/>
          </a:prstGeom>
          <a:solidFill>
            <a:srgbClr val="FFFFFF"/>
          </a:solidFill>
          <a:ln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4937760" cy="2377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92929"/>
                </a:solidFill>
              </a:defRPr>
            </a:pPr>
            <a:r>
              <a:t>Reusability ROI Waterfall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💰 Waterfall chart showing cost savings progression:</a:t>
            </a:r>
          </a:p>
          <a:p>
            <a:pPr>
              <a:defRPr sz="1000">
                <a:solidFill>
                  <a:srgbClr val="292929"/>
                </a:solidFill>
              </a:defRPr>
            </a:pPr>
            <a:r>
              <a:t>• Base launch cost: $62M</a:t>
            </a:r>
          </a:p>
          <a:p>
            <a:pPr>
              <a:defRPr sz="1000">
                <a:solidFill>
                  <a:srgbClr val="22C55E"/>
                </a:solidFill>
              </a:defRPr>
            </a:pPr>
            <a:r>
              <a:t>• First stage reuse: -$30M (48% savings)</a:t>
            </a:r>
          </a:p>
          <a:p>
            <a:pPr>
              <a:defRPr sz="1000">
                <a:solidFill>
                  <a:srgbClr val="22C55E"/>
                </a:solidFill>
              </a:defRPr>
            </a:pPr>
            <a:r>
              <a:t>• Fairing recovery: -$6M (10% savings)</a:t>
            </a:r>
          </a:p>
          <a:p>
            <a:pPr>
              <a:defRPr sz="1000">
                <a:solidFill>
                  <a:srgbClr val="22C55E"/>
                </a:solidFill>
              </a:defRPr>
            </a:pPr>
            <a:r>
              <a:t>• Operational efficiency: -$6M (10% savings)</a:t>
            </a:r>
          </a:p>
          <a:p>
            <a:pPr>
              <a:defRPr sz="1000">
                <a:solidFill>
                  <a:srgbClr val="292929"/>
                </a:solidFill>
              </a:defRPr>
            </a:pPr>
            <a:r>
              <a:t>• Current cost: $20M (68% reduction)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0" y="1097280"/>
            <a:ext cx="2743200" cy="2560320"/>
          </a:xfrm>
          <a:prstGeom prst="rect">
            <a:avLst/>
          </a:prstGeom>
          <a:solidFill>
            <a:srgbClr val="FFFFFF"/>
          </a:solidFill>
          <a:ln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0" y="1188720"/>
            <a:ext cx="2377440" cy="2377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92929"/>
                </a:solidFill>
              </a:defRPr>
            </a:pPr>
            <a:r>
              <a:t>Improvement Priority Matrix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🎯 2x2 Matrix (Impact vs Effort)</a:t>
            </a:r>
          </a:p>
          <a:p>
            <a:pPr>
              <a:defRPr sz="900" b="1">
                <a:solidFill>
                  <a:srgbClr val="22C55E"/>
                </a:solidFill>
              </a:defRPr>
            </a:pPr>
            <a:r>
              <a:t>High Impact/Low Effort:</a:t>
            </a:r>
          </a:p>
          <a:p>
            <a:pPr>
              <a:defRPr sz="900" b="0">
                <a:solidFill>
                  <a:srgbClr val="292929"/>
                </a:solidFill>
              </a:defRPr>
            </a:pPr>
            <a:r>
              <a:t>• Fairing catch improvement</a:t>
            </a:r>
          </a:p>
          <a:p>
            <a:pPr>
              <a:defRPr sz="900" b="1">
                <a:solidFill>
                  <a:srgbClr val="FB923C"/>
                </a:solidFill>
              </a:defRPr>
            </a:pPr>
            <a:r>
              <a:t>High Impact/High Effort:</a:t>
            </a:r>
          </a:p>
          <a:p>
            <a:pPr>
              <a:defRPr sz="900" b="0">
                <a:solidFill>
                  <a:srgbClr val="292929"/>
                </a:solidFill>
              </a:defRPr>
            </a:pPr>
            <a:r>
              <a:t>• Second stage recovery</a:t>
            </a:r>
          </a:p>
          <a:p>
            <a:pPr>
              <a:defRPr sz="900" b="0">
                <a:solidFill>
                  <a:srgbClr val="292929"/>
                </a:solidFill>
              </a:defRPr>
            </a:pPr>
            <a:r>
              <a:t>• Starship reliability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840480"/>
            <a:ext cx="8229600" cy="2103120"/>
          </a:xfrm>
          <a:prstGeom prst="rect">
            <a:avLst/>
          </a:prstGeom>
          <a:solidFill>
            <a:srgbClr val="FFFFFF"/>
          </a:solidFill>
          <a:ln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931920"/>
            <a:ext cx="7863840" cy="1920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92929"/>
                </a:solidFill>
              </a:defRPr>
            </a:pPr>
            <a:r>
              <a:t>Projected Value Creation (2025-2030)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📊 Stacked area chart showing cumulative savings potential</a:t>
            </a:r>
          </a:p>
          <a:p>
            <a:pPr>
              <a:defRPr sz="1000">
                <a:solidFill>
                  <a:srgbClr val="005DAA"/>
                </a:solidFill>
              </a:defRPr>
            </a:pPr>
            <a:r>
              <a:t>• Current trajectory: $2.5B saved through reusability</a:t>
            </a:r>
          </a:p>
          <a:p>
            <a:pPr>
              <a:defRPr sz="1000">
                <a:solidFill>
                  <a:srgbClr val="8B5CF6"/>
                </a:solidFill>
              </a:defRPr>
            </a:pPr>
            <a:r>
              <a:t>• With 2nd stage recovery: Additional $3.8B potential</a:t>
            </a:r>
          </a:p>
          <a:p>
            <a:pPr>
              <a:defRPr sz="1000">
                <a:solidFill>
                  <a:srgbClr val="22C55E"/>
                </a:solidFill>
              </a:defRPr>
            </a:pPr>
            <a:r>
              <a:t>• Starship success scenario: $15B+ market expansion</a:t>
            </a:r>
          </a:p>
          <a:p>
            <a:pPr>
              <a:defRPr sz="1000">
                <a:solidFill>
                  <a:srgbClr val="FB923C"/>
                </a:solidFill>
              </a:defRPr>
            </a:pPr>
            <a:r>
              <a:t>• Risk factor: 40% probability of full Starship capability by 2027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8595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Page 3: Success Metrics &amp; Achievements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786384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92929"/>
                </a:solidFill>
              </a:defRPr>
            </a:pPr>
            <a:r>
              <a:t>Historic Milestones Timeline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📅 Interactive timeline with key achievements</a:t>
            </a:r>
          </a:p>
          <a:p>
            <a:pPr>
              <a:defRPr sz="1000">
                <a:solidFill>
                  <a:srgbClr val="005DAA"/>
                </a:solidFill>
              </a:defRPr>
            </a:pPr>
            <a:r>
              <a:t>2008: First successful Falcon 1 | 2015: First landing | 2017: First reuse | 2020: Crew Dragon | 2024: 134 launches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651760"/>
            <a:ext cx="4114800" cy="2103120"/>
          </a:xfrm>
          <a:prstGeom prst="rect">
            <a:avLst/>
          </a:prstGeom>
          <a:solidFill>
            <a:srgbClr val="FFFFFF"/>
          </a:solidFill>
          <a:ln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743200"/>
            <a:ext cx="3749039" cy="1920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92929"/>
                </a:solidFill>
              </a:defRPr>
            </a:pPr>
            <a:r>
              <a:t>Landing Success Evolution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📈 Area chart showing improvement</a:t>
            </a:r>
          </a:p>
          <a:p>
            <a:pPr>
              <a:defRPr sz="1000">
                <a:solidFill>
                  <a:srgbClr val="EF4444"/>
                </a:solidFill>
              </a:defRPr>
            </a:pPr>
            <a:r>
              <a:t>• 2015: 0% success rate</a:t>
            </a:r>
          </a:p>
          <a:p>
            <a:pPr>
              <a:defRPr sz="1000">
                <a:solidFill>
                  <a:srgbClr val="FB923C"/>
                </a:solidFill>
              </a:defRPr>
            </a:pPr>
            <a:r>
              <a:t>• 2017: 41% success rate</a:t>
            </a:r>
          </a:p>
          <a:p>
            <a:pPr>
              <a:defRPr sz="1000">
                <a:solidFill>
                  <a:srgbClr val="7DD3FC"/>
                </a:solidFill>
              </a:defRPr>
            </a:pPr>
            <a:r>
              <a:t>• 2020: 85% success rate</a:t>
            </a:r>
          </a:p>
          <a:p>
            <a:pPr>
              <a:defRPr sz="1000">
                <a:solidFill>
                  <a:srgbClr val="22C55E"/>
                </a:solidFill>
              </a:defRPr>
            </a:pPr>
            <a:r>
              <a:t>• 2024: 95%+ success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2651760"/>
            <a:ext cx="4023360" cy="2103120"/>
          </a:xfrm>
          <a:prstGeom prst="rect">
            <a:avLst/>
          </a:prstGeom>
          <a:solidFill>
            <a:srgbClr val="FFFFFF"/>
          </a:solidFill>
          <a:ln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0" y="2743200"/>
            <a:ext cx="3657600" cy="1920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92929"/>
                </a:solidFill>
              </a:defRPr>
            </a:pPr>
            <a:r>
              <a:t>Reusability Champions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🏆 Bar chart of top performing boosters</a:t>
            </a:r>
          </a:p>
          <a:p>
            <a:pPr>
              <a:defRPr sz="1000">
                <a:solidFill>
                  <a:srgbClr val="005DAA"/>
                </a:solidFill>
              </a:defRPr>
            </a:pPr>
            <a:r>
              <a:t>• B1067: 24 flights (record holder)</a:t>
            </a:r>
          </a:p>
          <a:p>
            <a:pPr>
              <a:defRPr sz="1000">
                <a:solidFill>
                  <a:srgbClr val="292929"/>
                </a:solidFill>
              </a:defRPr>
            </a:pPr>
            <a:r>
              <a:t>• B1061: 23 flights</a:t>
            </a:r>
          </a:p>
          <a:p>
            <a:pPr>
              <a:defRPr sz="1000">
                <a:solidFill>
                  <a:srgbClr val="292929"/>
                </a:solidFill>
              </a:defRPr>
            </a:pPr>
            <a:r>
              <a:t>• B1062: 22 flights</a:t>
            </a:r>
          </a:p>
          <a:p>
            <a:pPr>
              <a:defRPr sz="1000">
                <a:solidFill>
                  <a:srgbClr val="292929"/>
                </a:solidFill>
              </a:defRPr>
            </a:pPr>
            <a:r>
              <a:t>• Fleet average: 12 flights per booster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937760"/>
            <a:ext cx="8229600" cy="1188720"/>
          </a:xfrm>
          <a:prstGeom prst="rect">
            <a:avLst/>
          </a:prstGeom>
          <a:solidFill>
            <a:srgbClr val="29292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5029200"/>
            <a:ext cx="786384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2C55E"/>
                </a:solidFill>
              </a:defRPr>
            </a:pPr>
            <a:r>
              <a:t>Key Success Metrics</a:t>
            </a:r>
          </a:p>
          <a:p>
            <a:pPr>
              <a:defRPr sz="1000">
                <a:solidFill>
                  <a:srgbClr val="FFFFFF"/>
                </a:solidFill>
              </a:defRPr>
            </a:pPr>
            <a:r>
              <a:t>• Market Leadership: 60%+ of global launch capacity | Cost Leadership: 75% cheaper than competitors</a:t>
            </a:r>
          </a:p>
          <a:p>
            <a:pPr>
              <a:defRPr sz="1000">
                <a:solidFill>
                  <a:srgbClr val="FFFFFF"/>
                </a:solidFill>
              </a:defRPr>
            </a:pPr>
            <a:r>
              <a:t>• Innovation Speed: 10x faster iteration than traditional aerospace | Safety: 100% crew mission success</a:t>
            </a:r>
          </a:p>
          <a:p>
            <a:pPr>
              <a:defRPr sz="1000">
                <a:solidFill>
                  <a:srgbClr val="FFFFFF"/>
                </a:solidFill>
              </a:defRPr>
            </a:pPr>
            <a:r>
              <a:t>• Environmental: 90% reduction in space debris through controlled reentry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92929"/>
                </a:solidFill>
              </a:defRPr>
            </a:pPr>
            <a:r>
              <a:t>Power BI Implementation Guide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41148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5DAA"/>
                </a:solidFill>
              </a:defRPr>
            </a:pPr>
            <a:r>
              <a:t>Data Connections</a:t>
            </a:r>
          </a:p>
          <a:p>
            <a:pPr>
              <a:defRPr sz="1000">
                <a:solidFill>
                  <a:srgbClr val="292929"/>
                </a:solidFill>
              </a:defRPr>
            </a:pPr>
            <a:r>
              <a:t>1. Import CSV files:</a:t>
            </a:r>
          </a:p>
          <a:p>
            <a:pPr>
              <a:defRPr sz="1000">
                <a:solidFill>
                  <a:srgbClr val="292929"/>
                </a:solidFill>
              </a:defRPr>
            </a:pPr>
            <a:r>
              <a:t>   • fact_launches.csv</a:t>
            </a:r>
          </a:p>
          <a:p>
            <a:pPr>
              <a:defRPr sz="1000">
                <a:solidFill>
                  <a:srgbClr val="292929"/>
                </a:solidFill>
              </a:defRPr>
            </a:pPr>
            <a:r>
              <a:t>   • dim_launch_location.csv</a:t>
            </a:r>
          </a:p>
          <a:p>
            <a:pPr>
              <a:defRPr sz="1000">
                <a:solidFill>
                  <a:srgbClr val="292929"/>
                </a:solidFill>
              </a:defRPr>
            </a:pPr>
            <a:r>
              <a:t>   • dim_launch_vehicle.csv</a:t>
            </a:r>
          </a:p>
          <a:p>
            <a:pPr>
              <a:defRPr sz="1000">
                <a:solidFill>
                  <a:srgbClr val="292929"/>
                </a:solidFill>
              </a:defRPr>
            </a:pPr>
            <a:r>
              <a:t>2. Create relationships:</a:t>
            </a:r>
          </a:p>
          <a:p>
            <a:pPr>
              <a:defRPr sz="1000">
                <a:solidFill>
                  <a:srgbClr val="292929"/>
                </a:solidFill>
              </a:defRPr>
            </a:pPr>
            <a:r>
              <a:t>   • fact→location (location_id)</a:t>
            </a:r>
          </a:p>
          <a:p>
            <a:pPr>
              <a:defRPr sz="1000">
                <a:solidFill>
                  <a:srgbClr val="292929"/>
                </a:solidFill>
              </a:defRPr>
            </a:pPr>
            <a:r>
              <a:t>   • fact→vehicle (vehicle_id)</a:t>
            </a:r>
          </a:p>
          <a:p>
            <a:pPr>
              <a:defRPr sz="1000">
                <a:solidFill>
                  <a:srgbClr val="292929"/>
                </a:solidFill>
              </a:defRPr>
            </a:pPr>
            <a:r>
              <a:t>3. Set date table from launch_date_actual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5DAA"/>
                </a:solidFill>
              </a:defRPr>
            </a:pPr>
            <a:r>
              <a:t>Essential DAX Measures</a:t>
            </a:r>
          </a:p>
          <a:p>
            <a:pPr>
              <a:defRPr sz="900">
                <a:solidFill>
                  <a:srgbClr val="475569"/>
                </a:solidFill>
              </a:defRPr>
            </a:pPr>
            <a:r>
              <a:t>Success Rate =</a:t>
            </a:r>
          </a:p>
          <a:p>
            <a:pPr>
              <a:defRPr sz="900">
                <a:solidFill>
                  <a:srgbClr val="475569"/>
                </a:solidFill>
              </a:defRPr>
            </a:pPr>
            <a:r>
              <a:t>DIVIDE(COUNT(launch_success=TRUE),</a:t>
            </a:r>
          </a:p>
          <a:p>
            <a:pPr>
              <a:defRPr sz="900">
                <a:solidFill>
                  <a:srgbClr val="292929"/>
                </a:solidFill>
              </a:defRPr>
            </a:pPr>
            <a:r>
              <a:t>       COUNT(all_launches))</a:t>
            </a:r>
          </a:p>
          <a:p>
            <a:pPr>
              <a:defRPr sz="900">
                <a:solidFill>
                  <a:srgbClr val="292929"/>
                </a:solidFill>
              </a:defRPr>
            </a:pPr>
          </a:p>
          <a:p>
            <a:pPr>
              <a:defRPr sz="900">
                <a:solidFill>
                  <a:srgbClr val="475569"/>
                </a:solidFill>
              </a:defRPr>
            </a:pPr>
            <a:r>
              <a:t>ROI Savings =</a:t>
            </a:r>
          </a:p>
          <a:p>
            <a:pPr>
              <a:defRPr sz="900">
                <a:solidFill>
                  <a:srgbClr val="475569"/>
                </a:solidFill>
              </a:defRPr>
            </a:pPr>
            <a:r>
              <a:t>COUNT(booster_reused=TRUE) * 30</a:t>
            </a:r>
          </a:p>
          <a:p>
            <a:pPr>
              <a:defRPr sz="900">
                <a:solidFill>
                  <a:srgbClr val="292929"/>
                </a:solidFill>
              </a:defRPr>
            </a:pPr>
          </a:p>
          <a:p>
            <a:pPr>
              <a:defRPr sz="900">
                <a:solidFill>
                  <a:srgbClr val="475569"/>
                </a:solidFill>
              </a:defRPr>
            </a:pPr>
            <a:r>
              <a:t>Improvement Trend =</a:t>
            </a:r>
          </a:p>
          <a:p>
            <a:pPr>
              <a:defRPr sz="900">
                <a:solidFill>
                  <a:srgbClr val="292929"/>
                </a:solidFill>
              </a:defRPr>
            </a:pPr>
            <a:r>
              <a:t>AVERAGE(improvement_flag)</a:t>
            </a:r>
          </a:p>
          <a:p>
            <a:pPr>
              <a:defRPr sz="900">
                <a:solidFill>
                  <a:srgbClr val="292929"/>
                </a:solidFill>
              </a:defRPr>
            </a:pPr>
            <a:r>
              <a:t>  BY QUARTER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66160"/>
            <a:ext cx="8229600" cy="2560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5DAA"/>
                </a:solidFill>
              </a:defRPr>
            </a:pPr>
            <a:r>
              <a:t>Recommended Visualizations</a:t>
            </a:r>
          </a:p>
          <a:p>
            <a:pPr>
              <a:defRPr sz="1000" b="1">
                <a:solidFill>
                  <a:srgbClr val="292929"/>
                </a:solidFill>
              </a:defRPr>
            </a:pPr>
            <a:r>
              <a:t>• KPI Cards: Total launches, Success rate, Cost savings, Reusability %</a:t>
            </a:r>
          </a:p>
          <a:p>
            <a:pPr>
              <a:defRPr sz="1000" b="1">
                <a:solidFill>
                  <a:srgbClr val="292929"/>
                </a:solidFill>
              </a:defRPr>
            </a:pPr>
            <a:r>
              <a:t>• Line Charts: Launch trend over time, Landing success evolution</a:t>
            </a:r>
          </a:p>
          <a:p>
            <a:pPr>
              <a:defRPr sz="1000" b="1">
                <a:solidFill>
                  <a:srgbClr val="292929"/>
                </a:solidFill>
              </a:defRPr>
            </a:pPr>
            <a:r>
              <a:t>• Bar Charts: Launches by vehicle, Booster reuse count, Cost comparison</a:t>
            </a:r>
          </a:p>
          <a:p>
            <a:pPr>
              <a:defRPr sz="1000" b="1">
                <a:solidFill>
                  <a:srgbClr val="292929"/>
                </a:solidFill>
              </a:defRPr>
            </a:pPr>
            <a:r>
              <a:t>• Matrix/Heatmap: Launch calendar, Improvement opportunities by category</a:t>
            </a:r>
          </a:p>
          <a:p>
            <a:pPr>
              <a:defRPr sz="1000" b="1">
                <a:solidFill>
                  <a:srgbClr val="292929"/>
                </a:solidFill>
              </a:defRPr>
            </a:pPr>
            <a:r>
              <a:t>• Gauge Charts: Current success rate, Reusability percentage</a:t>
            </a:r>
          </a:p>
          <a:p>
            <a:pPr>
              <a:defRPr sz="1000" b="1">
                <a:solidFill>
                  <a:srgbClr val="292929"/>
                </a:solidFill>
              </a:defRPr>
            </a:pPr>
            <a:r>
              <a:t>• Waterfall: Cost reduction breakdown, ROI progression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
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SpaceX Launch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005DAA"/>
                </a:solidFill>
              </a:defRPr>
            </a:pPr>
            <a:r>
              <a:t>Power BI Dashboard Design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6576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Dashboard Architecture</a:t>
            </a:r>
          </a:p>
          <a:p>
            <a:r>
              <a:t>• Executive Summary Dashboard</a:t>
            </a:r>
          </a:p>
          <a:p>
            <a:r>
              <a:t>• Success Metrics &amp; Achievements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92929"/>
                </a:solidFill>
              </a:defRPr>
            </a:pPr>
            <a:r>
              <a:t>SpaceX Brand Colors for Power BI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914400" cy="457200"/>
          </a:xfrm>
          <a:prstGeom prst="rect">
            <a:avLst/>
          </a:prstGeom>
          <a:solidFill>
            <a:srgbClr val="005DAA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54480" y="11887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Primary Blue</a:t>
            </a:r>
          </a:p>
          <a:p>
            <a:r>
              <a:t>#005DAA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1887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Main brand color, headers, KPI highlights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914400" cy="457200"/>
          </a:xfrm>
          <a:prstGeom prst="rect">
            <a:avLst/>
          </a:prstGeom>
          <a:solidFill>
            <a:srgbClr val="292929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8288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Dark Gray</a:t>
            </a:r>
          </a:p>
          <a:p>
            <a:r>
              <a:t>#292929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8288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Backgrounds, text, professional tone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68880"/>
            <a:ext cx="914400" cy="457200"/>
          </a:xfrm>
          <a:prstGeom prst="rect">
            <a:avLst/>
          </a:prstGeom>
          <a:solidFill>
            <a:srgbClr val="22C55E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46888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Success Green</a:t>
            </a:r>
          </a:p>
          <a:p>
            <a:r>
              <a:t>#22C55E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4688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Positive metrics, successful launches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08960"/>
            <a:ext cx="914400" cy="457200"/>
          </a:xfrm>
          <a:prstGeom prst="rect">
            <a:avLst/>
          </a:prstGeom>
          <a:solidFill>
            <a:srgbClr val="FB923C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54480" y="31089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Warning Orange</a:t>
            </a:r>
          </a:p>
          <a:p>
            <a:r>
              <a:t>#FB923C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10896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Attention points, delays, warnings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49040"/>
            <a:ext cx="914400" cy="457200"/>
          </a:xfrm>
          <a:prstGeom prst="rect">
            <a:avLst/>
          </a:prstGeom>
          <a:solidFill>
            <a:srgbClr val="EF4444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54480" y="37490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Danger Red</a:t>
            </a:r>
          </a:p>
          <a:p>
            <a:r>
              <a:t>#EF4444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749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Failures, critical issues, alerts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389120"/>
            <a:ext cx="914400" cy="457200"/>
          </a:xfrm>
          <a:prstGeom prst="rect">
            <a:avLst/>
          </a:prstGeom>
          <a:solidFill>
            <a:srgbClr val="8B5CF6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54480" y="43891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Innovation Purple</a:t>
            </a:r>
          </a:p>
          <a:p>
            <a:r>
              <a:t>#8B5CF6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43891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R&amp;D metrics, Starship program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029200"/>
            <a:ext cx="914400" cy="457200"/>
          </a:xfrm>
          <a:prstGeom prst="rect">
            <a:avLst/>
          </a:prstGeom>
          <a:solidFill>
            <a:srgbClr val="475569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54480" y="5029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Steel Blue</a:t>
            </a:r>
          </a:p>
          <a:p>
            <a:r>
              <a:t>#475569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50292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Secondary text, borders, dividers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669280"/>
            <a:ext cx="914400" cy="457200"/>
          </a:xfrm>
          <a:prstGeom prst="rect">
            <a:avLst/>
          </a:prstGeom>
          <a:solidFill>
            <a:srgbClr val="7DD3FC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54480" y="566928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Sky Blue</a:t>
            </a:r>
          </a:p>
          <a:p>
            <a:r>
              <a:t>#7DD3FC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56692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Accent color, hover states, selections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5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solidFill>
            <a:srgbClr val="005DAA"/>
          </a:solidFill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rPr>
                <a:solidFill>
                  <a:srgbClr val="292929"/>
                </a:solidFill>
              </a:rPr>
              <a:t>Page 1: Executive Summary Dashboard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192024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5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737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rPr>
                <a:solidFill>
                  <a:srgbClr val="292929"/>
                </a:solidFill>
              </a:rPr>
              <a:t>Total Launches</a:t>
            </a:r>
            <a:br/>
            <a:r>
              <a:rPr>
                <a:solidFill>
                  <a:srgbClr val="292929"/>
                </a:solidFill>
              </a:rPr>
              <a:t>578</a:t>
            </a:r>
            <a:br/>
            <a:r>
              <a:rPr>
                <a:solidFill>
                  <a:srgbClr val="292929"/>
                </a:solidFill>
              </a:rPr>
              <a:t>+33 YoY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1097280"/>
            <a:ext cx="192024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1188720"/>
            <a:ext cx="1737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rPr>
                <a:solidFill>
                  <a:srgbClr val="292929"/>
                </a:solidFill>
              </a:rPr>
              <a:t>Success Rate</a:t>
            </a:r>
            <a:br/>
            <a:r>
              <a:rPr>
                <a:solidFill>
                  <a:srgbClr val="292929"/>
                </a:solidFill>
              </a:rPr>
              <a:t>98.6%</a:t>
            </a:r>
            <a:br/>
            <a:r>
              <a:rPr>
                <a:solidFill>
                  <a:srgbClr val="292929"/>
                </a:solidFill>
              </a:rPr>
              <a:t>+1.3%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1097280"/>
            <a:ext cx="192024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79" y="1188720"/>
            <a:ext cx="1737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rPr>
                <a:solidFill>
                  <a:srgbClr val="292929"/>
                </a:solidFill>
              </a:rPr>
              <a:t>Cost per Launch</a:t>
            </a:r>
            <a:br/>
            <a:r>
              <a:rPr>
                <a:solidFill>
                  <a:srgbClr val="292929"/>
                </a:solidFill>
              </a:rPr>
              <a:t>$69M</a:t>
            </a:r>
            <a:br/>
            <a:r>
              <a:rPr>
                <a:solidFill>
                  <a:srgbClr val="292929"/>
                </a:solidFill>
              </a:rPr>
              <a:t>(avg, list price)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59" y="1097280"/>
            <a:ext cx="192024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7999" y="1188720"/>
            <a:ext cx="1737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rPr>
                <a:solidFill>
                  <a:srgbClr val="292929"/>
                </a:solidFill>
              </a:rPr>
              <a:t>Reusability Rate</a:t>
            </a:r>
            <a:br/>
            <a:r>
              <a:rPr>
                <a:solidFill>
                  <a:srgbClr val="292929"/>
                </a:solidFill>
              </a:rPr>
              <a:t>97.8%</a:t>
            </a:r>
            <a:br/>
            <a:r>
              <a:rPr>
                <a:solidFill>
                  <a:srgbClr val="292929"/>
                </a:solidFill>
              </a:rPr>
              <a:t>(2024 only)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60320"/>
            <a:ext cx="411480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age1_launch_ca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4114800" cy="22860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57200" y="5029200"/>
            <a:ext cx="8229600" cy="1188720"/>
          </a:xfrm>
          <a:prstGeom prst="rect">
            <a:avLst/>
          </a:prstGeom>
          <a:solidFill>
            <a:srgbClr val="29292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120640"/>
            <a:ext cx="78638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7DD3FC"/>
                </a:solidFill>
              </a:defRPr>
            </a:pPr>
            <a:r>
              <a:t>Key Insights (From CSV Data)</a:t>
            </a:r>
          </a:p>
          <a:p>
            <a:r>
              <a:t>• 2024: Record 182 launches (up 33 from 2023)</a:t>
            </a:r>
          </a:p>
          <a:p>
            <a:r>
              <a:t>• Overall success rate: 98.6% across 578 missions</a:t>
            </a:r>
          </a:p>
          <a:p>
            <a:r>
              <a:t>• Booster reuse rate reached 97.8% in 2024</a:t>
            </a:r>
          </a:p>
          <a:p>
            <a:r>
              <a:t>• Landing success improved from 50% (2015) to 99.4% (2024)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5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solidFill>
            <a:srgbClr val="005DAA"/>
          </a:solidFill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rPr>
                <a:solidFill>
                  <a:srgbClr val="292929"/>
                </a:solidFill>
              </a:rPr>
              <a:t>Page 2: Success Metrics &amp; Achievements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age3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7863840" cy="11887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2651760"/>
            <a:ext cx="4114800" cy="210312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age3_landing_e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43200"/>
            <a:ext cx="3749039" cy="19202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663440" y="2651760"/>
            <a:ext cx="4023360" cy="210312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age3_reusability_champ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743200"/>
            <a:ext cx="3657600" cy="19202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57200" y="4937760"/>
            <a:ext cx="8229600" cy="1188720"/>
          </a:xfrm>
          <a:prstGeom prst="rect">
            <a:avLst/>
          </a:prstGeom>
          <a:solidFill>
            <a:srgbClr val="29292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5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solidFill>
            <a:srgbClr val="005DAA"/>
          </a:solidFill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rPr>
                <a:solidFill>
                  <a:srgbClr val="292929"/>
                </a:solidFill>
              </a:rPr>
              <a:t>Page 2: Success Metrics &amp; Achievements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age3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7863840" cy="11887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2651760"/>
            <a:ext cx="4114800" cy="210312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age3_landing_e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43200"/>
            <a:ext cx="3749039" cy="19202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663440" y="2651760"/>
            <a:ext cx="4023360" cy="210312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age3_reusability_champ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743200"/>
            <a:ext cx="3657600" cy="19202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57200" y="4937760"/>
            <a:ext cx="8229600" cy="1188720"/>
          </a:xfrm>
          <a:prstGeom prst="rect">
            <a:avLst/>
          </a:prstGeom>
          <a:solidFill>
            <a:srgbClr val="29292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92929"/>
                </a:solidFill>
              </a:defRPr>
            </a:pPr>
            <a:r>
              <a:t>Power BI Implementation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5DAA"/>
                </a:solidFill>
              </a:defRPr>
            </a:pPr>
            <a:r>
              <a:t>Data Connections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1. Import CSV files: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   • fact_launches.csv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   • dim_launch_location.csv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   • dim_launch_vehicle.csv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2. Create relationships: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   • fact→location (location_id)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   • fact→vehicle (vehicle_id)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3. Set date table from launch_date_actual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5DAA"/>
                </a:solidFill>
              </a:defRPr>
            </a:pPr>
            <a:r>
              <a:t>Essential DAX Measures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Success Rate =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DIVIDE(COUNT(launch_success=TRUE),</a:t>
            </a:r>
          </a:p>
          <a:p>
            <a:pPr>
              <a:defRPr sz="900">
                <a:solidFill>
                  <a:srgbClr val="292929"/>
                </a:solidFill>
              </a:defRPr>
            </a:pPr>
            <a:r>
              <a:t>       COUNT(all_launches))</a:t>
            </a:r>
          </a:p>
          <a:p>
            <a:pPr>
              <a:defRPr sz="900">
                <a:solidFill>
                  <a:srgbClr val="292929"/>
                </a:solidFill>
              </a:defRPr>
            </a:pPr>
          </a:p>
          <a:p>
            <a:pPr>
              <a:defRPr sz="900">
                <a:solidFill>
                  <a:srgbClr val="475569"/>
                </a:solidFill>
              </a:defRPr>
            </a:pPr>
            <a:r>
              <a:t>ROI Savings =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COUNT(booster_reused=TRUE) * 30</a:t>
            </a:r>
          </a:p>
          <a:p>
            <a:pPr>
              <a:defRPr sz="900">
                <a:solidFill>
                  <a:srgbClr val="292929"/>
                </a:solidFill>
              </a:defRPr>
            </a:pPr>
          </a:p>
          <a:p>
            <a:pPr>
              <a:defRPr sz="900">
                <a:solidFill>
                  <a:srgbClr val="475569"/>
                </a:solidFill>
              </a:defRPr>
            </a:pPr>
            <a:r>
              <a:t>Improvement Trend =</a:t>
            </a:r>
          </a:p>
          <a:p>
            <a:pPr>
              <a:defRPr sz="900">
                <a:solidFill>
                  <a:srgbClr val="292929"/>
                </a:solidFill>
              </a:defRPr>
            </a:pPr>
            <a:r>
              <a:t>AVERAGE(improvement_flag)</a:t>
            </a:r>
          </a:p>
          <a:p>
            <a:pPr>
              <a:defRPr sz="900">
                <a:solidFill>
                  <a:srgbClr val="292929"/>
                </a:solidFill>
              </a:defRPr>
            </a:pPr>
            <a:r>
              <a:t>  BY QUARTER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66160"/>
            <a:ext cx="822960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5DAA"/>
                </a:solidFill>
              </a:defRPr>
            </a:pPr>
            <a:r>
              <a:t>Recommended Visualizations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KPI Cards: Total launches, Success rate, Cost savings, Reusability %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Line Charts: Launch trend over time, Landing success evolution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Bar Charts: Launches by vehicle, Booster reuse count, Cost comparison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Matrix/Heatmap: Launch calendar, Improvement opportunities by category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Gauge Charts: Current success rate, Reusability percentage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Waterfall: Cost reduction breakdown, ROI progression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
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5DAA"/>
                </a:solidFill>
              </a:defRPr>
            </a:pPr>
            <a:r>
              <a:t>SpaceX Launch Analytics</a:t>
            </a:r>
          </a:p>
          <a:p>
            <a:pPr algn="ctr">
              <a:defRPr sz="2400">
                <a:solidFill>
                  <a:srgbClr val="292929"/>
                </a:solidFill>
              </a:defRPr>
            </a:pPr>
            <a:r>
              <a:t>Power BI Dashboard Design</a:t>
            </a:r>
          </a:p>
          <a:p>
            <a:br/>
            <a:pPr algn="ctr">
              <a:defRPr sz="1800">
                <a:solidFill>
                  <a:srgbClr val="292929"/>
                </a:solidFill>
              </a:defRPr>
            </a:pPr>
            <a:r>
              <a:t>Data-Driven Insights from 578 Launches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92929"/>
                </a:solidFill>
              </a:defRPr>
            </a:pPr>
            <a:r>
              <a:t>SpaceX Brand Colors for Power BI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914400" cy="457200"/>
          </a:xfrm>
          <a:prstGeom prst="rect">
            <a:avLst/>
          </a:prstGeom>
          <a:solidFill>
            <a:srgbClr val="005DAA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54480" y="1188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Primary Blue</a:t>
            </a:r>
          </a:p>
          <a:p>
            <a:r>
              <a:t>#005DAA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188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Main brand color, headers, KPI highlights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914400" cy="457200"/>
          </a:xfrm>
          <a:prstGeom prst="rect">
            <a:avLst/>
          </a:prstGeom>
          <a:solidFill>
            <a:srgbClr val="292929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8288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Dark Gray</a:t>
            </a:r>
          </a:p>
          <a:p>
            <a:r>
              <a:t>#292929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8288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Backgrounds, text, professional tone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68880"/>
            <a:ext cx="914400" cy="457200"/>
          </a:xfrm>
          <a:prstGeom prst="rect">
            <a:avLst/>
          </a:prstGeom>
          <a:solidFill>
            <a:srgbClr val="22C55E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46888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Success Green</a:t>
            </a:r>
          </a:p>
          <a:p>
            <a:r>
              <a:t>#22C55E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688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Positive metrics, successful launches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08960"/>
            <a:ext cx="914400" cy="457200"/>
          </a:xfrm>
          <a:prstGeom prst="rect">
            <a:avLst/>
          </a:prstGeom>
          <a:solidFill>
            <a:srgbClr val="FB923C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3108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Warning Orange</a:t>
            </a:r>
          </a:p>
          <a:p>
            <a:r>
              <a:t>#FB923C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10896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Attention points, delays, warnings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49040"/>
            <a:ext cx="914400" cy="457200"/>
          </a:xfrm>
          <a:prstGeom prst="rect">
            <a:avLst/>
          </a:prstGeom>
          <a:solidFill>
            <a:srgbClr val="EF4444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37490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Danger Red</a:t>
            </a:r>
          </a:p>
          <a:p>
            <a:r>
              <a:t>#EF4444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749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Failures, critical issues, alerts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389120"/>
            <a:ext cx="914400" cy="457200"/>
          </a:xfrm>
          <a:prstGeom prst="rect">
            <a:avLst/>
          </a:prstGeom>
          <a:solidFill>
            <a:srgbClr val="8B5CF6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43891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Innovation Purple</a:t>
            </a:r>
          </a:p>
          <a:p>
            <a:r>
              <a:t>#8B5CF6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43891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R&amp;D metrics, Starship program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29200"/>
            <a:ext cx="914400" cy="457200"/>
          </a:xfrm>
          <a:prstGeom prst="rect">
            <a:avLst/>
          </a:prstGeom>
          <a:solidFill>
            <a:srgbClr val="475569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54480" y="5029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Steel Blue</a:t>
            </a:r>
          </a:p>
          <a:p>
            <a:r>
              <a:t>#475569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50292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Secondary text, borders, dividers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669280"/>
            <a:ext cx="914400" cy="457200"/>
          </a:xfrm>
          <a:prstGeom prst="rect">
            <a:avLst/>
          </a:prstGeom>
          <a:solidFill>
            <a:srgbClr val="7DD3FC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566928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Sky Blue</a:t>
            </a:r>
          </a:p>
          <a:p>
            <a:r>
              <a:t>#7DD3FC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56692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Accent color, hover states, selections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5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Page 1: 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92024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5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292929"/>
                </a:solidFill>
              </a:defRPr>
            </a:pPr>
            <a:r>
              <a:t>Total Launches</a:t>
            </a:r>
          </a:p>
          <a:p>
            <a:pPr algn="ctr">
              <a:defRPr sz="2000" b="1">
                <a:solidFill>
                  <a:srgbClr val="005DAA"/>
                </a:solidFill>
              </a:defRPr>
            </a:pPr>
            <a:r>
              <a:t>578</a:t>
            </a:r>
          </a:p>
          <a:p>
            <a:pPr algn="ctr">
              <a:defRPr sz="900">
                <a:solidFill>
                  <a:srgbClr val="292929"/>
                </a:solidFill>
              </a:defRPr>
            </a:pPr>
            <a:r>
              <a:t>+33 YoY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0" y="1097280"/>
            <a:ext cx="192024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5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0" y="118872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292929"/>
                </a:solidFill>
              </a:defRPr>
            </a:pPr>
            <a:r>
              <a:t>Success Rate</a:t>
            </a:r>
          </a:p>
          <a:p>
            <a:pPr algn="ctr">
              <a:defRPr sz="2000" b="1">
                <a:solidFill>
                  <a:srgbClr val="005DAA"/>
                </a:solidFill>
              </a:defRPr>
            </a:pPr>
            <a:r>
              <a:t>98.6%</a:t>
            </a:r>
          </a:p>
          <a:p>
            <a:pPr algn="ctr">
              <a:defRPr sz="900">
                <a:solidFill>
                  <a:srgbClr val="292929"/>
                </a:solidFill>
              </a:defRPr>
            </a:pPr>
            <a:r>
              <a:t>+1.3%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192024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5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18872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292929"/>
                </a:solidFill>
              </a:defRPr>
            </a:pPr>
            <a:r>
              <a:t>Active Sites</a:t>
            </a:r>
          </a:p>
          <a:p>
            <a:pPr algn="ctr">
              <a:defRPr sz="2000" b="1">
                <a:solidFill>
                  <a:srgbClr val="005DAA"/>
                </a:solidFill>
              </a:defRPr>
            </a:pPr>
            <a:r>
              <a:t>4</a:t>
            </a:r>
          </a:p>
          <a:p>
            <a:pPr algn="ctr">
              <a:defRPr sz="900">
                <a:solidFill>
                  <a:srgbClr val="292929"/>
                </a:solidFill>
              </a:defRPr>
            </a:pPr>
            <a:r>
              <a:t>USA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1097280"/>
            <a:ext cx="192024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5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118872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292929"/>
                </a:solidFill>
              </a:defRPr>
            </a:pPr>
            <a:r>
              <a:t>Reusability</a:t>
            </a:r>
          </a:p>
          <a:p>
            <a:pPr algn="ctr">
              <a:defRPr sz="2000" b="1">
                <a:solidFill>
                  <a:srgbClr val="005DAA"/>
                </a:solidFill>
              </a:defRPr>
            </a:pPr>
            <a:r>
              <a:t>83.7%</a:t>
            </a:r>
          </a:p>
          <a:p>
            <a:pPr algn="ctr">
              <a:defRPr sz="900">
                <a:solidFill>
                  <a:srgbClr val="292929"/>
                </a:solidFill>
              </a:defRPr>
            </a:pPr>
            <a:r>
              <a:t>484 missions</a:t>
            </a:r>
          </a:p>
        </p:txBody>
      </p:sp>
      <p:pic>
        <p:nvPicPr>
          <p:cNvPr id="12" name="Picture 11" descr="page1_launch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4114800" cy="3657600"/>
          </a:xfrm>
          <a:prstGeom prst="rect">
            <a:avLst/>
          </a:prstGeom>
        </p:spPr>
      </p:pic>
      <p:pic>
        <p:nvPicPr>
          <p:cNvPr id="13" name="Picture 12" descr="page1_launch_tr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9319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5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Page 2: Success Story - Landing &amp; Reusability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C55E"/>
                </a:solidFill>
              </a:defRPr>
            </a:pPr>
            <a:r>
              <a:t>🎯 Landing Success: 93% (507/545 attempts) | Reusability: 83.7% of all missions using reused boosters</a:t>
            </a:r>
          </a:p>
        </p:txBody>
      </p:sp>
      <p:pic>
        <p:nvPicPr>
          <p:cNvPr id="5" name="Picture 4" descr="page2_landing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2194560"/>
          </a:xfrm>
          <a:prstGeom prst="rect">
            <a:avLst/>
          </a:prstGeom>
        </p:spPr>
      </p:pic>
      <p:pic>
        <p:nvPicPr>
          <p:cNvPr id="6" name="Picture 5" descr="page2_reusability_r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023360"/>
            <a:ext cx="822960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5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Page 3: Improvement 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B923C"/>
                </a:solidFill>
              </a:defRPr>
            </a:pPr>
            <a:r>
              <a:t>⚠️ Focus Areas: 8 launch failures (1.4%) | 38 landing failures (7%) | Starship: 66.7% success rate</a:t>
            </a:r>
          </a:p>
        </p:txBody>
      </p:sp>
      <p:pic>
        <p:nvPicPr>
          <p:cNvPr id="5" name="Picture 4" descr="page3_failure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3931920" cy="2377440"/>
          </a:xfrm>
          <a:prstGeom prst="rect">
            <a:avLst/>
          </a:prstGeom>
        </p:spPr>
      </p:pic>
      <p:pic>
        <p:nvPicPr>
          <p:cNvPr id="6" name="Picture 5" descr="page3_vehicle_succ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645920"/>
            <a:ext cx="3931920" cy="2377440"/>
          </a:xfrm>
          <a:prstGeom prst="rect">
            <a:avLst/>
          </a:prstGeom>
        </p:spPr>
      </p:pic>
      <p:pic>
        <p:nvPicPr>
          <p:cNvPr id="7" name="Picture 6" descr="page3_landing_failu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206240"/>
            <a:ext cx="822960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92929"/>
                </a:solidFill>
              </a:defRPr>
            </a:pPr>
            <a:r>
              <a:t>Power BI Implementation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5DAA"/>
                </a:solidFill>
              </a:defRPr>
            </a:pPr>
            <a:r>
              <a:t>Data Connections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1. Import CSV files: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fact_launches.csv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dim_launch_location.csv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dim_launch_vehicle.csv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2. Create relationships: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fact→location (location_id)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fact→vehicle (vehicle_id)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3. Set date table from launch_date_actual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5DAA"/>
                </a:solidFill>
              </a:defRPr>
            </a:pPr>
            <a:r>
              <a:t>Essential DAX Measures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Success Rate =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DIVIDE(COUNT(launch_success=TRUE),</a:t>
            </a:r>
          </a:p>
          <a:p>
            <a:pPr>
              <a:defRPr sz="900">
                <a:solidFill>
                  <a:srgbClr val="292929"/>
                </a:solidFill>
              </a:defRPr>
            </a:pPr>
            <a:r>
              <a:t>       COUNT(all_launches))</a:t>
            </a:r>
          </a:p>
          <a:p>
            <a:pPr>
              <a:defRPr sz="900">
                <a:solidFill>
                  <a:srgbClr val="292929"/>
                </a:solidFill>
              </a:defRPr>
            </a:pPr>
          </a:p>
          <a:p>
            <a:pPr>
              <a:defRPr sz="900">
                <a:solidFill>
                  <a:srgbClr val="475569"/>
                </a:solidFill>
              </a:defRPr>
            </a:pPr>
            <a:r>
              <a:t>ROI Savings =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COUNT(booster_reused=TRUE) * 30</a:t>
            </a:r>
          </a:p>
          <a:p>
            <a:pPr>
              <a:defRPr sz="900">
                <a:solidFill>
                  <a:srgbClr val="292929"/>
                </a:solidFill>
              </a:defRPr>
            </a:pPr>
          </a:p>
          <a:p>
            <a:pPr>
              <a:defRPr sz="900">
                <a:solidFill>
                  <a:srgbClr val="475569"/>
                </a:solidFill>
              </a:defRPr>
            </a:pPr>
            <a:r>
              <a:t>Improvement Trend =</a:t>
            </a:r>
          </a:p>
          <a:p>
            <a:pPr>
              <a:defRPr sz="900">
                <a:solidFill>
                  <a:srgbClr val="292929"/>
                </a:solidFill>
              </a:defRPr>
            </a:pPr>
            <a:r>
              <a:t>AVERAGE(improvement_flag)</a:t>
            </a:r>
          </a:p>
          <a:p>
            <a:pPr>
              <a:defRPr sz="900">
                <a:solidFill>
                  <a:srgbClr val="292929"/>
                </a:solidFill>
              </a:defRPr>
            </a:pPr>
            <a:r>
              <a:t>  BY QUARTER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82296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5DAA"/>
                </a:solidFill>
              </a:defRPr>
            </a:pPr>
            <a:r>
              <a:t>Recommended Visualizations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KPI Cards: Total launches, Success rate, Cost savings, Reusability %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Line Charts: Launch trend over time, Landing success evolution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Bar Charts: Launches by vehicle, Booster reuse count, Cost comparison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Matrix/Heatmap: Launch calendar, Improvement opportunities by category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Gauge Charts: Current success rate, Reusability percentage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Waterfall: Cost reduction breakdown, ROI progression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
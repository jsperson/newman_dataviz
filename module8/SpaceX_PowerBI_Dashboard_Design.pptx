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SpaceX Launch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005DAA"/>
                </a:solidFill>
              </a:defRPr>
            </a:pPr>
            <a:r>
              <a:t>Power BI Dashboard Design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6576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Dashboard Architecture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Executive Summary Dashboard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ROI &amp; Opportunity Analysis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Success Metrics &amp; Achievements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SpaceX Brand Colors for Power BI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914400" cy="457200"/>
          </a:xfrm>
          <a:prstGeom prst="rect">
            <a:avLst/>
          </a:prstGeom>
          <a:solidFill>
            <a:srgbClr val="005DAA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188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Primary Blue</a:t>
            </a:r>
          </a:p>
          <a:p>
            <a:r>
              <a:t>#005DAA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Main brand color, headers, KPI highlights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914400" cy="457200"/>
          </a:xfrm>
          <a:prstGeom prst="rect">
            <a:avLst/>
          </a:prstGeom>
          <a:solidFill>
            <a:srgbClr val="29292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8288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Dark Gray</a:t>
            </a:r>
          </a:p>
          <a:p>
            <a:r>
              <a:t>#292929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Backgrounds, text, professional tone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914400" cy="457200"/>
          </a:xfrm>
          <a:prstGeom prst="rect">
            <a:avLst/>
          </a:prstGeom>
          <a:solidFill>
            <a:srgbClr val="22C55E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4688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Success Green</a:t>
            </a:r>
          </a:p>
          <a:p>
            <a:r>
              <a:t>#22C55E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Positive metrics, successful launches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914400" cy="457200"/>
          </a:xfrm>
          <a:prstGeom prst="rect">
            <a:avLst/>
          </a:prstGeom>
          <a:solidFill>
            <a:srgbClr val="FB923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Warning Orange</a:t>
            </a:r>
          </a:p>
          <a:p>
            <a:r>
              <a:t>#FB923C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1089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Attention points, delays, warnings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914400" cy="457200"/>
          </a:xfrm>
          <a:prstGeom prst="rect">
            <a:avLst/>
          </a:prstGeom>
          <a:solidFill>
            <a:srgbClr val="EF4444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490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Danger Red</a:t>
            </a:r>
          </a:p>
          <a:p>
            <a:r>
              <a:t>#EF4444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49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Failures, critical issues, alerts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914400" cy="457200"/>
          </a:xfrm>
          <a:prstGeom prst="rect">
            <a:avLst/>
          </a:prstGeom>
          <a:solidFill>
            <a:srgbClr val="8B5CF6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43891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Innovation Purple</a:t>
            </a:r>
          </a:p>
          <a:p>
            <a:r>
              <a:t>#8B5CF6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3891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R&amp;D metrics, Starship program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29200"/>
            <a:ext cx="914400" cy="457200"/>
          </a:xfrm>
          <a:prstGeom prst="rect">
            <a:avLst/>
          </a:prstGeom>
          <a:solidFill>
            <a:srgbClr val="47556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5029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Steel Blue</a:t>
            </a:r>
          </a:p>
          <a:p>
            <a:r>
              <a:t>#475569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0292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Secondary text, borders, dividers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69280"/>
            <a:ext cx="914400" cy="457200"/>
          </a:xfrm>
          <a:prstGeom prst="rect">
            <a:avLst/>
          </a:prstGeom>
          <a:solidFill>
            <a:srgbClr val="7DD3F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56692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Sky Blue</a:t>
            </a:r>
          </a:p>
          <a:p>
            <a:r>
              <a:t>#7DD3FC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669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Accent color, hover states, selections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solidFill>
            <a:srgbClr val="005DAA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292929"/>
                </a:solidFill>
              </a:rPr>
              <a:t>Page 1: Executive Summary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5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rPr>
                <a:solidFill>
                  <a:srgbClr val="292929"/>
                </a:solidFill>
              </a:rPr>
              <a:t>Total Launches</a:t>
            </a:r>
            <a:br/>
            <a:r>
              <a:rPr>
                <a:solidFill>
                  <a:srgbClr val="292929"/>
                </a:solidFill>
              </a:rPr>
              <a:t>578</a:t>
            </a:r>
            <a:br/>
            <a:r>
              <a:rPr>
                <a:solidFill>
                  <a:srgbClr val="292929"/>
                </a:solidFill>
              </a:rPr>
              <a:t>+33 YoY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rPr>
                <a:solidFill>
                  <a:srgbClr val="292929"/>
                </a:solidFill>
              </a:rPr>
              <a:t>Success Rate</a:t>
            </a:r>
            <a:br/>
            <a:r>
              <a:rPr>
                <a:solidFill>
                  <a:srgbClr val="292929"/>
                </a:solidFill>
              </a:rPr>
              <a:t>98.6%</a:t>
            </a:r>
            <a:br/>
            <a:r>
              <a:rPr>
                <a:solidFill>
                  <a:srgbClr val="292929"/>
                </a:solidFill>
              </a:rPr>
              <a:t>+1.3%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rPr>
                <a:solidFill>
                  <a:srgbClr val="292929"/>
                </a:solidFill>
              </a:rPr>
              <a:t>Cost per Launch</a:t>
            </a:r>
            <a:br/>
            <a:r>
              <a:rPr>
                <a:solidFill>
                  <a:srgbClr val="292929"/>
                </a:solidFill>
              </a:rPr>
              <a:t>$69M</a:t>
            </a:r>
            <a:br/>
            <a:r>
              <a:rPr>
                <a:solidFill>
                  <a:srgbClr val="292929"/>
                </a:solidFill>
              </a:rPr>
              <a:t>(avg, list price)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7999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rPr>
                <a:solidFill>
                  <a:srgbClr val="292929"/>
                </a:solidFill>
              </a:rPr>
              <a:t>Reusability Rate</a:t>
            </a:r>
            <a:br/>
            <a:r>
              <a:rPr>
                <a:solidFill>
                  <a:srgbClr val="292929"/>
                </a:solidFill>
              </a:rPr>
              <a:t>97.8%</a:t>
            </a:r>
            <a:br/>
            <a:r>
              <a:rPr>
                <a:solidFill>
                  <a:srgbClr val="292929"/>
                </a:solidFill>
              </a:rPr>
              <a:t>(2024 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411480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ge1_launch_ca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4114800" cy="2286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754880" y="2560320"/>
            <a:ext cx="393192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ge1_mission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931920" cy="2286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5029200"/>
            <a:ext cx="8229600" cy="1188720"/>
          </a:xfrm>
          <a:prstGeom prst="rect">
            <a:avLst/>
          </a:prstGeom>
          <a:solidFill>
            <a:srgbClr val="29292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DD3FC"/>
                </a:solidFill>
              </a:defRPr>
            </a:pPr>
            <a:r>
              <a:t>Key Insights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2024: Record 134 launches, exceeding all other providers combined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Booster reusability reached 24 flights per vehicle (B1067)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Critical improvement needed: Starship success rate at 33%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solidFill>
            <a:srgbClr val="005DAA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292929"/>
                </a:solidFill>
              </a:rPr>
              <a:t>Page 2: ROI &amp; Improvement Opportunities (Estimates)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30352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2_roi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4937760" cy="2377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0" y="1097280"/>
            <a:ext cx="274320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age2_priority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2377440" cy="23774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3840480"/>
            <a:ext cx="82296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ge2_value_proje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31920"/>
            <a:ext cx="7863840" cy="1920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B923C"/>
                </a:solidFill>
              </a:defRPr>
            </a:pPr>
            <a:r>
              <a:t>⚠️ DISCLAIMER: ROI calculations, priority matrix, and value projections are estimates based on industry analysis, not direct CSV data measurements.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solidFill>
            <a:srgbClr val="005DAA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292929"/>
                </a:solidFill>
              </a:rPr>
              <a:t>Page 3: Success Metrics &amp; Achievements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ge3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7863840" cy="1188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2651760"/>
            <a:ext cx="41148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ge3_landing_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3749039" cy="1920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663440" y="2651760"/>
            <a:ext cx="402336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ge3_reusability_champ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43200"/>
            <a:ext cx="3657600" cy="19202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57200" y="4937760"/>
            <a:ext cx="8229600" cy="1188720"/>
          </a:xfrm>
          <a:prstGeom prst="rect">
            <a:avLst/>
          </a:prstGeom>
          <a:solidFill>
            <a:srgbClr val="29292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2C55E"/>
                </a:solidFill>
              </a:defRPr>
            </a:pPr>
            <a:r>
              <a:t>Key Success Metrics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Market Leadership: 60%+ of global launch capacity | Cost Leadership: 75% cheaper than competitors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Innovation Speed: 10x faster iteration than traditional aerospace | Safety: 100% crew mission success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Environmental: 90% reduction in space debris through controlled reentry</a:t>
            </a:r>
          </a:p>
          <a:p>
            <a:br/>
            <a:pPr>
              <a:defRPr sz="900" b="1">
                <a:solidFill>
                  <a:srgbClr val="FB923C"/>
                </a:solidFill>
              </a:defRPr>
            </a:pPr>
            <a:r>
              <a:t>⚠️ Market share, cost comparisons, and booster flight counts (B1067: 24 flights) are from external sources, not CSV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Power BI Implementation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Data Connections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1. Import CSV files: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fact_launches.csv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dim_launch_location.csv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dim_launch_vehicle.csv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2. Create relationships: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fact→location (location_id)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fact→vehicle (vehicle_id)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3. Set date table from launch_date_actual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Essential DAX Measures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Success Rate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DIVIDE(COUNT(launch_success=TRUE),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     COUNT(all_launches))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ROI Savings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COUNT(booster_reused=TRUE) * 30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Improvement Trend =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AVERAGE(improvement_flag)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BY QUARTER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82296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Recommended Visualizations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KPI Cards: Total launches, Success rate, Cost savings, Reusability %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Line Charts: Launch trend over time, Landing success evolution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Bar Charts: Launches by vehicle, Booster reuse count, Cost comparison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Matrix/Heatmap: Launch calendar, Improvement opportunities by category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Gauge Charts: Current success rate, Reusability percentage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Waterfall: Cost reduction breakdown, ROI progression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